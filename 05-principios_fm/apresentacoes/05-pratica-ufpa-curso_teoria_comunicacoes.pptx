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740b86bc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740b86bc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c627a9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bc627a9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c627a9e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bc627a9e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bc627a9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bc627a9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bc627a9e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bc627a9e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bc627a9e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bc627a9e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bcc97665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bcc97665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cc9766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bcc9766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bcc97665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bcc97665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bcc97665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bcc97665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bcc9766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bcc9766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bcc97665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bcc97665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bcc97665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bcc97665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None/>
              <a:defRPr sz="180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628650" y="273844"/>
            <a:ext cx="685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28" name="Google Shape;28;p4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0" name="Google Shape;30;p4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Calibri"/>
              <a:buNone/>
              <a:defRPr sz="1800">
                <a:solidFill>
                  <a:schemeClr val="accent4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500"/>
              <a:buFont typeface="Calibri"/>
              <a:buNone/>
              <a:defRPr sz="1500">
                <a:solidFill>
                  <a:srgbClr val="91AEF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400"/>
              <a:buFont typeface="Calibri"/>
              <a:buNone/>
              <a:defRPr sz="1400">
                <a:solidFill>
                  <a:srgbClr val="91AEF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200"/>
              <a:buFont typeface="Calibri"/>
              <a:buNone/>
              <a:defRPr sz="1200">
                <a:solidFill>
                  <a:srgbClr val="91AEF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200"/>
              <a:buFont typeface="Calibri"/>
              <a:buNone/>
              <a:defRPr sz="1200">
                <a:solidFill>
                  <a:srgbClr val="91AEF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200"/>
              <a:buNone/>
              <a:defRPr sz="1200">
                <a:solidFill>
                  <a:srgbClr val="91AEF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200"/>
              <a:buNone/>
              <a:defRPr sz="1200">
                <a:solidFill>
                  <a:srgbClr val="91AEF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200"/>
              <a:buNone/>
              <a:defRPr sz="1200">
                <a:solidFill>
                  <a:srgbClr val="91AEF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1AEF7"/>
              </a:buClr>
              <a:buSzPts val="1200"/>
              <a:buNone/>
              <a:defRPr sz="1200">
                <a:solidFill>
                  <a:srgbClr val="91AEF7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8650" y="273844"/>
            <a:ext cx="685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28650" y="273844"/>
            <a:ext cx="685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629841" y="342900"/>
            <a:ext cx="29493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/>
          <p:nvPr>
            <p:ph idx="2" type="pic"/>
          </p:nvPr>
        </p:nvSpPr>
        <p:spPr>
          <a:xfrm>
            <a:off x="3887391" y="740569"/>
            <a:ext cx="46290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7" name="Google Shape;67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628650" y="273844"/>
            <a:ext cx="685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Personalizado">
  <p:cSld name="Layout Personalizado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456481" y="205222"/>
            <a:ext cx="82266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457200" y="4685111"/>
            <a:ext cx="21273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00" spcFirstLastPara="1" rIns="62200" wrap="square" tIns="311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Times New Roman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127375" y="4685111"/>
            <a:ext cx="28971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00" spcFirstLastPara="1" rIns="62200" wrap="square" tIns="311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91AEF7"/>
              </a:buClr>
              <a:buSzPts val="900"/>
              <a:buFont typeface="Times New Roman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554788" y="4685111"/>
            <a:ext cx="21288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1100" lIns="62200" spcFirstLastPara="1" rIns="62200" wrap="square" tIns="31100">
            <a:noAutofit/>
          </a:bodyPr>
          <a:lstStyle>
            <a:lvl1pPr indent="0" lvl="0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Clr>
                <a:srgbClr val="91AEF7"/>
              </a:buClr>
              <a:buSzPts val="900"/>
              <a:buFont typeface="Times New Roman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94" name="Google Shape;94;p1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rtl="0">
              <a:spcBef>
                <a:spcPts val="800"/>
              </a:spcBef>
              <a:spcAft>
                <a:spcPts val="0"/>
              </a:spcAft>
              <a:buSzPts val="1400"/>
              <a:buChar char="•"/>
              <a:defRPr sz="1400"/>
            </a:lvl1pPr>
            <a:lvl2pPr indent="-304800" lvl="1" marL="914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 rtl="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 1">
  <p:cSld name="TITLE_AND_BODY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1142910" y="841860"/>
            <a:ext cx="6857700" cy="17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lvl="1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807526" y="883959"/>
            <a:ext cx="4551758" cy="455175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28650" y="273844"/>
            <a:ext cx="6858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91AEF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09700" y="83725"/>
            <a:ext cx="613650" cy="7012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790200" y="4007925"/>
            <a:ext cx="7563600" cy="948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Prof. Aldebaro Klautau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FCT/UFPA</a:t>
            </a:r>
            <a:endParaRPr/>
          </a:p>
        </p:txBody>
      </p:sp>
      <p:sp>
        <p:nvSpPr>
          <p:cNvPr id="105" name="Google Shape;105;p17"/>
          <p:cNvSpPr txBox="1"/>
          <p:nvPr/>
        </p:nvSpPr>
        <p:spPr>
          <a:xfrm>
            <a:off x="1250700" y="1276800"/>
            <a:ext cx="6642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4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Teoria das Comunicações</a:t>
            </a:r>
            <a:endParaRPr b="1" sz="44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1250700" y="2174700"/>
            <a:ext cx="664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lang="fr" sz="2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Aula prática FM</a:t>
            </a:r>
            <a:endParaRPr sz="280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Conceitos para lembrar</a:t>
            </a:r>
            <a:endParaRPr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Quando usamos o produto interno de sinais ortogonais por uma das funç</a:t>
            </a:r>
            <a:r>
              <a:rPr lang="fr"/>
              <a:t>ões base, recuperamos o sinal de interesse. Isso pode ser entendido também como uma multiplicação do sinal base seguido por um filtro.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1950" lvl="0" marL="457200" rtl="0" algn="l"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A correlação de sinais gera um pico de correlação quando o sinal encontra a sua máxima similaridade.</a:t>
            </a:r>
            <a:endParaRPr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3639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2689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35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21"/>
            <a:ext cx="9144000" cy="514853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975"/>
            <a:ext cx="9143998" cy="516546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3963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fr"/>
              <a:t>Configurações de Taxa de Amostragem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samp_rate: </a:t>
            </a:r>
            <a:r>
              <a:rPr lang="fr"/>
              <a:t>2.0 MHz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Taxa de amostragem do hardware USRP. Define a largura de banda de RF observada.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down_rate: </a:t>
            </a:r>
            <a:r>
              <a:rPr lang="fr"/>
              <a:t>250 kHz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Taxa reduzida para processamento do canal FM individual, otimizando o uso de CPU.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audio_rate:</a:t>
            </a:r>
            <a:r>
              <a:rPr lang="fr"/>
              <a:t> 48 kHz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Taxa padrão para áudio de alta fidelidade, utilizada na entrada do transmissor.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00" y="1543700"/>
            <a:ext cx="8121876" cy="353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type="title"/>
          </p:nvPr>
        </p:nvSpPr>
        <p:spPr>
          <a:xfrm>
            <a:off x="58200" y="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Fluxo Inicial da Transmiss</a:t>
            </a:r>
            <a:r>
              <a:rPr lang="fr"/>
              <a:t>ão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153975" y="498750"/>
            <a:ext cx="8256300" cy="1614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Max Deviation (75 kHz): Define o desvio máximo da portadora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Pre-emphasis (Tau = 75 µs): Reforço de altas frequências para melhorar a relação sinal-ruído 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 sz="1600"/>
              <a:t>Quadrature Rate (240 kHz): Taxa de saída interpolada para acomodar a largura de banda da FM</a:t>
            </a:r>
            <a:endParaRPr sz="1600"/>
          </a:p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WBFM Transmit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Ele realiza dois processos: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Converte variações de amplitude (áudio) em variações de frequência instantânea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Gera um sinal de banda base complexa (I/Q) pronto para ser transladado para RF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Recebe um único fluxo de entrada float de amostras de áudio no intervalo [-1,+1] e produz uma única saída de banda base complexa modulada em FM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350" y="1549775"/>
            <a:ext cx="4134800" cy="23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187775" y="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Fluxo inicial de recepç</a:t>
            </a:r>
            <a:r>
              <a:rPr lang="fr"/>
              <a:t>ão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187775" y="515875"/>
            <a:ext cx="73887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UHD USRP Source: Sintoniza na variável FM_chooser.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Low Pass Filter: Filtro FIR com cutoff_freq = 100k.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fr"/>
              <a:t>Decimação: Fator int(2M / 250k) = 8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2904"/>
            <a:ext cx="9144000" cy="344354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Demodulação WBFM Receive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Este bloco realiza a extração da mensagem m(t) a partir da fase do sinal complexo.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Quadrature Rate:</a:t>
            </a:r>
            <a:r>
              <a:rPr lang="fr"/>
              <a:t> Definida pela down_rate (250k).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Audio Decimation:</a:t>
            </a:r>
            <a:r>
              <a:rPr lang="fr"/>
              <a:t> 1 (Nenhuma redução adicional interna).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Operação:</a:t>
            </a:r>
            <a:r>
              <a:rPr lang="fr"/>
              <a:t> Calcula a diferença de fase entre amostras adjacentes (derivada).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9175" y="1829438"/>
            <a:ext cx="2666250" cy="148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Resampling e Sincronismo de Áudio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O áudio demodulado a 250k precisa ser ajustado para a placa de som.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Fatores de conversão no código: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Interp:</a:t>
            </a:r>
            <a:r>
              <a:rPr lang="fr"/>
              <a:t> 24</a:t>
            </a:r>
            <a:endParaRPr/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b="1" lang="fr"/>
              <a:t>Decim:</a:t>
            </a:r>
            <a:r>
              <a:rPr lang="fr"/>
              <a:t> 250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fr"/>
              <a:t>Cálculo: 250.000 * (24 / 250) = 24.000 Hz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0450" y="1777750"/>
            <a:ext cx="2558450" cy="15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SSE">
  <a:themeElements>
    <a:clrScheme name="Custom 4">
      <a:dk1>
        <a:srgbClr val="4285F4"/>
      </a:dk1>
      <a:lt1>
        <a:srgbClr val="FFFFFF"/>
      </a:lt1>
      <a:dk2>
        <a:srgbClr val="A0C3FF"/>
      </a:dk2>
      <a:lt2>
        <a:srgbClr val="F2F2F2"/>
      </a:lt2>
      <a:accent1>
        <a:srgbClr val="E59000"/>
      </a:accent1>
      <a:accent2>
        <a:srgbClr val="0F9D58"/>
      </a:accent2>
      <a:accent3>
        <a:srgbClr val="E59000"/>
      </a:accent3>
      <a:accent4>
        <a:srgbClr val="76A7FA"/>
      </a:accent4>
      <a:accent5>
        <a:srgbClr val="33B679"/>
      </a:accent5>
      <a:accent6>
        <a:srgbClr val="FF8E1C"/>
      </a:accent6>
      <a:hlink>
        <a:srgbClr val="0563C1"/>
      </a:hlink>
      <a:folHlink>
        <a:srgbClr val="E59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